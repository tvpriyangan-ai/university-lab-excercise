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40" r:id="rId5"/>
    <p:sldId id="341" r:id="rId6"/>
    <p:sldId id="342" r:id="rId7"/>
    <p:sldId id="348" r:id="rId8"/>
    <p:sldId id="343" r:id="rId9"/>
    <p:sldId id="344" r:id="rId10"/>
    <p:sldId id="350" r:id="rId11"/>
    <p:sldId id="347" r:id="rId12"/>
    <p:sldId id="35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0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E171933-4619-4E11-9A3F-F7608DF75F80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outlineViewPr>
    <p:cViewPr>
      <p:scale>
        <a:sx n="33" d="100"/>
        <a:sy n="33" d="100"/>
      </p:scale>
      <p:origin x="0" y="-1137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264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82B951-AFFF-3499-FDE3-02A7F0BD15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E5896A-FCE2-110F-B202-A8E435372D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69F83-204D-4778-AAD0-A0F851A3AEEE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BFBA0-47AD-543A-6AE4-769D8F865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FC355-FEF6-ED8F-8D0E-F362E204A0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69D59-B021-49CB-887D-52B8FEE1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069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E3C21-C3CB-4B8D-9033-56C1B3CE75FA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732C3C-A191-48C2-A7E8-9C96AF841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39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04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480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399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23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93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1577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3557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5060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118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BECDFC6B-0742-962E-44A1-19C9C173B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0848" y="425303"/>
            <a:ext cx="11305217" cy="6007394"/>
          </a:xfrm>
          <a:prstGeom prst="rect">
            <a:avLst/>
          </a:prstGeom>
          <a:effectLst/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33046"/>
            <a:ext cx="10571998" cy="3366198"/>
          </a:xfrm>
          <a:ln>
            <a:noFill/>
          </a:ln>
          <a:effectLst/>
        </p:spPr>
        <p:txBody>
          <a:bodyPr/>
          <a:lstStyle>
            <a:lvl1pPr algn="ctr">
              <a:defRPr sz="7200" b="1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3698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ADBC817-DA57-A518-5544-0D3B819C7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73FFF3-C7B6-C678-1B03-17FBD0D5A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6174" y="425303"/>
            <a:ext cx="5379242" cy="59834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217" y="924167"/>
            <a:ext cx="4383156" cy="5009322"/>
          </a:xfrm>
          <a:solidFill>
            <a:schemeClr val="accent1">
              <a:lumMod val="50000"/>
            </a:schemeClr>
          </a:solidFill>
          <a:effectLst>
            <a:outerShdw blurRad="254000" dist="50800" dir="2700000" algn="ctr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924512"/>
            <a:ext cx="4750904" cy="5008977"/>
          </a:xfrm>
        </p:spPr>
        <p:txBody>
          <a:bodyPr/>
          <a:lstStyle>
            <a:lvl1pPr marL="0" indent="0">
              <a:buNone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543050" indent="-171450">
              <a:buFont typeface="Arial" panose="020B0604020202020204" pitchFamily="34" charset="0"/>
              <a:buChar char="•"/>
              <a:defRPr/>
            </a:lvl4pPr>
            <a:lvl5pPr marL="20002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7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05E210-05B5-5EA1-C778-30BB3A494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9987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792193-1165-3487-6FB9-133CB518C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0924" y="-2235006"/>
            <a:ext cx="6010147" cy="1132013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1741064"/>
            <a:ext cx="10571998" cy="1928264"/>
          </a:xfrm>
          <a:ln>
            <a:noFill/>
          </a:ln>
          <a:effectLst/>
        </p:spPr>
        <p:txBody>
          <a:bodyPr/>
          <a:lstStyle>
            <a:lvl1pPr algn="ctr">
              <a:defRPr sz="3600" spc="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0000" y="3694102"/>
            <a:ext cx="10572000" cy="896468"/>
          </a:xfrm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80000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905615-9FD2-EBB3-89AB-555B373EB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23955" y="414670"/>
            <a:ext cx="7132110" cy="60180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638DB-3E00-7F4B-D4B7-9D7F09056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0459" y="420624"/>
            <a:ext cx="4183496" cy="60167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EED07-CDD5-9244-28FA-5195E6795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35934" y="422551"/>
            <a:ext cx="4183495" cy="60101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717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B5AB4E8D-8B32-8B00-8152-856C592BAB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46793" y="924340"/>
            <a:ext cx="5684373" cy="5009322"/>
          </a:xfrm>
          <a:effectLst/>
        </p:spPr>
        <p:txBody>
          <a:bodyPr lIns="0" rIns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1pPr>
            <a:lvl2pPr marL="4572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2pPr>
            <a:lvl3pPr marL="9144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3pPr>
            <a:lvl4pPr marL="13716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4pPr>
            <a:lvl5pPr marL="18288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769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4A700F-42CA-D7A9-D709-C0017521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rgbClr val="F9E0B9"/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61DA139-D8FD-A752-758D-4F836DFB2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rot="16200000" flipH="1">
            <a:off x="210940" y="1589892"/>
            <a:ext cx="5245922" cy="366758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5516" y="1433219"/>
            <a:ext cx="5695102" cy="2092049"/>
          </a:xfrm>
          <a:noFill/>
          <a:effectLst/>
        </p:spPr>
        <p:txBody>
          <a:bodyPr anchor="b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96F37D4-7152-EA75-8D7D-D8F7D6DD9C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50099" y="1974707"/>
            <a:ext cx="2907792" cy="2907792"/>
          </a:xfrm>
          <a:solidFill>
            <a:srgbClr val="F9E0B9"/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FBE5B12-0D10-DA99-093A-2C4FB738B21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96789" y="3525268"/>
            <a:ext cx="5683829" cy="2595429"/>
          </a:xfrm>
          <a:effectLst/>
        </p:spPr>
        <p:txBody>
          <a:bodyPr anchor="t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  <a:lvl2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995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633845"/>
            <a:ext cx="3990110" cy="219248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5614EF-4CFA-2D69-0F78-9D7409E2337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7423" y="3174531"/>
            <a:ext cx="3772622" cy="3122360"/>
          </a:xfrm>
          <a:effectLst/>
        </p:spPr>
        <p:txBody>
          <a:bodyPr rIns="274320" anchor="t"/>
          <a:lstStyle>
            <a:lvl1pPr marL="283464" indent="-28346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237732" y="946205"/>
            <a:ext cx="5971020" cy="5161655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164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3E625C-F0A4-564D-CEE2-6B3595CEB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61889" y="0"/>
            <a:ext cx="623011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445" y="157637"/>
            <a:ext cx="4851694" cy="2190705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D8C78-00C3-F3D7-17C3-F1667E463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422551"/>
            <a:ext cx="5124893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3E61FD-F54A-5F86-FCED-3BD4C8AA4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flipH="1">
            <a:off x="659106" y="3429000"/>
            <a:ext cx="4589830" cy="27804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F0290F-2D31-F9FB-AD35-B76947AF1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6863" y="776532"/>
            <a:ext cx="3434316" cy="501821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347A5B6-0F99-C044-C209-F3190EEFA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36663" y="776288"/>
            <a:ext cx="3433762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592615" y="2505979"/>
            <a:ext cx="4837385" cy="3926717"/>
          </a:xfrm>
          <a:effectLst/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668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4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6DB3CB-355C-968A-7F5F-71E03504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0"/>
            <a:ext cx="1219200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153836" y="1371602"/>
            <a:ext cx="6177309" cy="1953489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87279F-936E-0F41-B533-7990D668D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53836" y="3446156"/>
            <a:ext cx="6177309" cy="0"/>
          </a:xfrm>
          <a:prstGeom prst="line">
            <a:avLst/>
          </a:prstGeom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DD03AA1-6D53-FEB1-9B22-57C1066DA33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53836" y="3745924"/>
            <a:ext cx="6177309" cy="2238918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937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85800"/>
            <a:ext cx="10571998" cy="2983528"/>
          </a:xfrm>
          <a:effectLst/>
        </p:spPr>
        <p:txBody>
          <a:bodyPr/>
          <a:lstStyle>
            <a:lvl1pPr algn="ctr">
              <a:defRPr sz="3600" spc="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2340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2B799F-04B8-4A62-EB7D-F17311231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56500" y="0"/>
            <a:ext cx="46355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310BE-5861-E73D-5979-D11A97151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270" y="487680"/>
            <a:ext cx="6482080" cy="59029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12F5E6-EC22-5E10-94FB-5E546A7B9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95630" y="477518"/>
            <a:ext cx="6482079" cy="591312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6952" y="477518"/>
            <a:ext cx="3829465" cy="2693887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4BBA88A-FAA8-CE13-2A76-BF8B014AE34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952500" y="909638"/>
            <a:ext cx="5578475" cy="5038725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36953" y="3449781"/>
            <a:ext cx="3829465" cy="2940860"/>
          </a:xfrm>
          <a:effectLst/>
        </p:spPr>
        <p:txBody>
          <a:bodyPr anchor="t"/>
          <a:lstStyle>
            <a:lvl1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81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373" y="571501"/>
            <a:ext cx="11139054" cy="1028699"/>
          </a:xfrm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E10735F5-6B7D-348D-AC70-8BC10CB5F70A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60550"/>
            <a:ext cx="10515600" cy="4198938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34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FDAFCA1-BDD9-1108-8F95-E3FC1A793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0"/>
            <a:ext cx="11532896" cy="6858000"/>
            <a:chOff x="659106" y="0"/>
            <a:chExt cx="11532896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BFDB24-6BE4-2FC0-F772-DC1DE926E485}"/>
                </a:ext>
              </a:extLst>
            </p:cNvPr>
            <p:cNvSpPr/>
            <p:nvPr/>
          </p:nvSpPr>
          <p:spPr>
            <a:xfrm>
              <a:off x="5995086" y="0"/>
              <a:ext cx="6196916" cy="685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254000" dist="508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31EABEA-AB8A-5E4C-A6DD-8F32B70E90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-1353" t="-388" r="-1" b="-254"/>
            <a:stretch/>
          </p:blipFill>
          <p:spPr>
            <a:xfrm flipH="1">
              <a:off x="659106" y="1956391"/>
              <a:ext cx="4878094" cy="278041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279AAC-0D81-D3CD-3F0F-E8CEE0F56D43}"/>
                </a:ext>
              </a:extLst>
            </p:cNvPr>
            <p:cNvSpPr/>
            <p:nvPr/>
          </p:nvSpPr>
          <p:spPr>
            <a:xfrm>
              <a:off x="1328303" y="776532"/>
              <a:ext cx="3434316" cy="501821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542" y="132080"/>
            <a:ext cx="4928894" cy="6507711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720B2D-C199-57FA-9453-DBFB607BA9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00" y="992188"/>
            <a:ext cx="3425825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858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11222B-29F6-BF2A-09DE-82F659638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35F993-EADB-1C5A-7158-41E510B70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12E34E-DBAF-BA5D-15D9-E69A05535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1889759"/>
            <a:ext cx="11424920" cy="45429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571499"/>
            <a:ext cx="11118274" cy="1154114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BF6A552-CE6A-3977-8507-74A1C4C4B5A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41667" y="2461056"/>
            <a:ext cx="3626424" cy="3721535"/>
          </a:xfrm>
          <a:effectLst/>
        </p:spPr>
        <p:txBody>
          <a:bodyPr anchor="t">
            <a:normAutofit/>
          </a:bodyPr>
          <a:lstStyle>
            <a:lvl1pPr marL="285750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400"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4C80689F-A123-F6D7-2AA8-9166317EF42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95282" y="2440275"/>
            <a:ext cx="5164553" cy="3721534"/>
          </a:xfrm>
          <a:effectLst/>
        </p:spPr>
        <p:txBody>
          <a:bodyPr anchor="t">
            <a:norm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  <a:defRPr sz="1800" b="1">
                <a:solidFill>
                  <a:schemeClr val="accent1">
                    <a:lumMod val="50000"/>
                  </a:schemeClr>
                </a:solidFill>
              </a:defRPr>
            </a:lvl1pPr>
            <a:lvl2pPr marL="34747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8202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F4DCF8-BA15-AB79-2D14-040F5A063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22DD7-291D-E347-8A4C-07E31E681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2299" y="-2231063"/>
            <a:ext cx="6007395" cy="1132012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660" y="1017858"/>
            <a:ext cx="10650681" cy="2719255"/>
          </a:xfrm>
          <a:noFill/>
          <a:effectLst/>
        </p:spPr>
        <p:txBody>
          <a:bodyPr anchor="b"/>
          <a:lstStyle>
            <a:lvl1pPr algn="ctr">
              <a:defRPr sz="7200" spc="-30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0660" y="4042066"/>
            <a:ext cx="10650681" cy="2296843"/>
          </a:xfrm>
          <a:effectLst/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250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6F7BD38-A805-4B2C-9BDF-D56E94387879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68" r:id="rId2"/>
    <p:sldLayoutId id="2147483669" r:id="rId3"/>
    <p:sldLayoutId id="2147483684" r:id="rId4"/>
    <p:sldLayoutId id="2147483672" r:id="rId5"/>
    <p:sldLayoutId id="2147483687" r:id="rId6"/>
    <p:sldLayoutId id="2147483671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85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 baseline="0">
          <a:ln>
            <a:noFill/>
          </a:ln>
          <a:solidFill>
            <a:srgbClr val="FEFEFE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57D32B9-F9F6-9504-9422-56A6DE846FF7}"/>
              </a:ext>
            </a:extLst>
          </p:cNvPr>
          <p:cNvSpPr txBox="1">
            <a:spLocks/>
          </p:cNvSpPr>
          <p:nvPr/>
        </p:nvSpPr>
        <p:spPr>
          <a:xfrm>
            <a:off x="810001" y="762431"/>
            <a:ext cx="10571998" cy="3366198"/>
          </a:xfrm>
          <a:prstGeom prst="rect">
            <a:avLst/>
          </a:prstGeom>
          <a:ln>
            <a:noFill/>
          </a:ln>
          <a:effectLst/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7200" b="1" kern="1200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FFFF00"/>
                </a:solidFill>
              </a:rPr>
              <a:t>Smart Adaptive Temperature Control System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509CB18-87FA-889C-3F6A-C8A86730C01E}"/>
              </a:ext>
            </a:extLst>
          </p:cNvPr>
          <p:cNvSpPr txBox="1">
            <a:spLocks/>
          </p:cNvSpPr>
          <p:nvPr/>
        </p:nvSpPr>
        <p:spPr>
          <a:xfrm>
            <a:off x="810001" y="2594580"/>
            <a:ext cx="10571998" cy="3366198"/>
          </a:xfrm>
          <a:prstGeom prst="rect">
            <a:avLst/>
          </a:prstGeom>
          <a:ln>
            <a:noFill/>
          </a:ln>
          <a:effectLst/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7200" b="1" kern="1200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CA728B3-BEB1-4EC6-B904-BEB07DF81A03}"/>
              </a:ext>
            </a:extLst>
          </p:cNvPr>
          <p:cNvSpPr txBox="1">
            <a:spLocks/>
          </p:cNvSpPr>
          <p:nvPr/>
        </p:nvSpPr>
        <p:spPr>
          <a:xfrm>
            <a:off x="883743" y="2892681"/>
            <a:ext cx="10571998" cy="3366198"/>
          </a:xfrm>
          <a:prstGeom prst="rect">
            <a:avLst/>
          </a:prstGeom>
          <a:ln>
            <a:noFill/>
          </a:ln>
          <a:effectLst/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7200" b="1" kern="1200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8800" dirty="0">
                <a:solidFill>
                  <a:schemeClr val="tx1"/>
                </a:solidFill>
                <a:latin typeface="Aptos ExtraBold" panose="020B0004020202020204" pitchFamily="34" charset="0"/>
              </a:rPr>
              <a:t>Futuristic Model</a:t>
            </a:r>
          </a:p>
        </p:txBody>
      </p:sp>
    </p:spTree>
    <p:extLst>
      <p:ext uri="{BB962C8B-B14F-4D97-AF65-F5344CB8AC3E}">
        <p14:creationId xmlns:p14="http://schemas.microsoft.com/office/powerpoint/2010/main" val="431835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6A34740-DB6B-CB7A-62F9-C61176E7A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91" y="703006"/>
            <a:ext cx="4710659" cy="422787"/>
          </a:xfrm>
        </p:spPr>
        <p:txBody>
          <a:bodyPr/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Aptos Slab ExtraBold" panose="020B0004020202020204" pitchFamily="34" charset="0"/>
              </a:rPr>
              <a:t>Additional Advanced Features: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25282-EE8D-71BA-6317-EECFE33238D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8679" y="1474837"/>
            <a:ext cx="3772622" cy="4680157"/>
          </a:xfrm>
        </p:spPr>
        <p:txBody>
          <a:bodyPr anchor="t">
            <a:normAutofit fontScale="85000" lnSpcReduction="10000"/>
          </a:bodyPr>
          <a:lstStyle/>
          <a:p>
            <a:pPr lvl="0">
              <a:spcAft>
                <a:spcPts val="600"/>
              </a:spcAft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  <a:latin typeface="Aptos Slab SemiBold" panose="020B0004020202020204" pitchFamily="34" charset="0"/>
              </a:rPr>
              <a:t>Wi-Fi and IoT connectivity</a:t>
            </a:r>
          </a:p>
          <a:p>
            <a:pPr lvl="0">
              <a:spcAft>
                <a:spcPts val="600"/>
              </a:spcAft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  <a:latin typeface="Aptos Slab SemiBold" panose="020B0004020202020204" pitchFamily="34" charset="0"/>
              </a:rPr>
              <a:t> Automatic device detection </a:t>
            </a:r>
          </a:p>
          <a:p>
            <a:pPr lvl="0">
              <a:spcAft>
                <a:spcPts val="600"/>
              </a:spcAft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  <a:latin typeface="Aptos Slab SemiBold" panose="020B0004020202020204" pitchFamily="34" charset="0"/>
              </a:rPr>
              <a:t>Mobile app monitoring </a:t>
            </a:r>
          </a:p>
          <a:p>
            <a:pPr lvl="0">
              <a:spcAft>
                <a:spcPts val="600"/>
              </a:spcAft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  <a:latin typeface="Aptos Slab SemiBold" panose="020B0004020202020204" pitchFamily="34" charset="0"/>
              </a:rPr>
              <a:t>Cloud dashboard </a:t>
            </a:r>
          </a:p>
          <a:p>
            <a:pPr lvl="0">
              <a:spcAft>
                <a:spcPts val="600"/>
              </a:spcAft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  <a:latin typeface="Aptos Slab SemiBold" panose="020B0004020202020204" pitchFamily="34" charset="0"/>
              </a:rPr>
              <a:t>AI predictive control </a:t>
            </a:r>
          </a:p>
          <a:p>
            <a:pPr lvl="0">
              <a:spcAft>
                <a:spcPts val="600"/>
              </a:spcAft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  <a:latin typeface="Aptos Slab SemiBold" panose="020B0004020202020204" pitchFamily="34" charset="0"/>
              </a:rPr>
              <a:t>Voice assistant integration </a:t>
            </a:r>
          </a:p>
          <a:p>
            <a:pPr lvl="0">
              <a:spcAft>
                <a:spcPts val="600"/>
              </a:spcAft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  <a:latin typeface="Aptos Slab SemiBold" panose="020B0004020202020204" pitchFamily="34" charset="0"/>
              </a:rPr>
              <a:t>Building-wide centralized control </a:t>
            </a:r>
          </a:p>
          <a:p>
            <a:pPr lvl="0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ptos Slab SemiBold" panose="020B0004020202020204" pitchFamily="34" charset="0"/>
              </a:rPr>
              <a:t>Energy analytics &amp; Portable Solar-Powered Smart Control </a:t>
            </a:r>
            <a:endParaRPr lang="en-US" noProof="0" dirty="0">
              <a:solidFill>
                <a:schemeClr val="bg1"/>
              </a:solidFill>
              <a:latin typeface="Aptos Slab SemiBold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41D5BB-4FC6-B597-7CA7-D05EF496C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1990" y="1052051"/>
            <a:ext cx="6721331" cy="44528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09924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CF8F5-609D-E31E-6659-2E3CE6309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479" y="-874317"/>
            <a:ext cx="10571998" cy="192826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FF00"/>
                </a:solidFill>
              </a:rPr>
              <a:t>Voice Assistant Integration</a:t>
            </a:r>
            <a:endParaRPr lang="en-US" noProof="0" dirty="0">
              <a:solidFill>
                <a:srgbClr val="FFFF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16AEF-ABBB-D2DD-A297-5819AEB9A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364" y="1697960"/>
            <a:ext cx="11053779" cy="896468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en-US" dirty="0"/>
              <a:t>Our futuristic temperature control system includes an advanced AI Voice Assistant feature similar to Amazon Alexa.</a:t>
            </a:r>
            <a:br>
              <a:rPr lang="en-US" dirty="0"/>
            </a:br>
            <a:r>
              <a:rPr lang="en-US" dirty="0"/>
              <a:t>Users can communicate with the device naturally using voice commands without touching any switches or mobile apps.</a:t>
            </a:r>
            <a:endParaRPr lang="en-US" noProof="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C2E7347-9138-D967-612E-3E126E8D6E26}"/>
              </a:ext>
            </a:extLst>
          </p:cNvPr>
          <p:cNvSpPr txBox="1">
            <a:spLocks/>
          </p:cNvSpPr>
          <p:nvPr/>
        </p:nvSpPr>
        <p:spPr>
          <a:xfrm>
            <a:off x="810000" y="-230304"/>
            <a:ext cx="10571998" cy="1928264"/>
          </a:xfrm>
          <a:prstGeom prst="rect">
            <a:avLst/>
          </a:prstGeom>
          <a:ln>
            <a:noFill/>
          </a:ln>
          <a:effectLst/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600" b="1" kern="1200" spc="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Smart Voice-Controlled Temperature Assistant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BA3EDB-54C7-E9DA-4CAB-58A94C2397EB}"/>
              </a:ext>
            </a:extLst>
          </p:cNvPr>
          <p:cNvSpPr/>
          <p:nvPr/>
        </p:nvSpPr>
        <p:spPr>
          <a:xfrm>
            <a:off x="642857" y="2594428"/>
            <a:ext cx="3073742" cy="3637936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FFFF00"/>
                </a:solidFill>
                <a:latin typeface="Aptos Slab SemiBold" panose="020B0004020202020204" pitchFamily="34" charset="0"/>
              </a:rPr>
              <a:t>The system can: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Listen to user voice commands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Reply with current temperature details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Automatically adjust room temperature </a:t>
            </a:r>
          </a:p>
          <a:p>
            <a:r>
              <a:rPr lang="en-US" sz="1600" dirty="0">
                <a:solidFill>
                  <a:srgbClr val="FFFF00"/>
                </a:solidFill>
                <a:latin typeface="Aptos Slab SemiBold" panose="020B0004020202020204" pitchFamily="34" charset="0"/>
              </a:rPr>
              <a:t>Control connected devices such as: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 Slab SemiBold" panose="020B0004020202020204" pitchFamily="34" charset="0"/>
              </a:rPr>
              <a:t>Air Conditioner (AC)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 Slab SemiBold" panose="020B0004020202020204" pitchFamily="34" charset="0"/>
              </a:rPr>
              <a:t>Fan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 Slab SemiBold" panose="020B0004020202020204" pitchFamily="34" charset="0"/>
              </a:rPr>
              <a:t>Heater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 Slab SemiBold" panose="020B0004020202020204" pitchFamily="34" charset="0"/>
              </a:rPr>
              <a:t>Smart Windows</a:t>
            </a:r>
          </a:p>
          <a:p>
            <a:pPr algn="ctr"/>
            <a:endParaRPr lang="en-US" sz="1600" dirty="0">
              <a:latin typeface="Aptos Slab SemiBold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FC38A2-0EF1-3414-F3EF-08B5C32539D6}"/>
              </a:ext>
            </a:extLst>
          </p:cNvPr>
          <p:cNvSpPr/>
          <p:nvPr/>
        </p:nvSpPr>
        <p:spPr>
          <a:xfrm>
            <a:off x="4004189" y="2564930"/>
            <a:ext cx="3548294" cy="3637936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00"/>
                </a:solidFill>
              </a:rPr>
              <a:t>Example Voice Commands</a:t>
            </a:r>
          </a:p>
          <a:p>
            <a:endParaRPr lang="en-US" sz="1600" b="1" dirty="0">
              <a:solidFill>
                <a:srgbClr val="FFFF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 “What is the current room temperature?”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br>
              <a:rPr lang="en-US" sz="1600" dirty="0"/>
            </a:br>
            <a:r>
              <a:rPr lang="en-US" sz="1600" dirty="0"/>
              <a:t>“It’s too cold, reduce the cooling.”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br>
              <a:rPr lang="en-US" sz="1600" dirty="0"/>
            </a:br>
            <a:r>
              <a:rPr lang="en-US" sz="1600" dirty="0"/>
              <a:t> “Increase the temperature by 2 degrees.”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br>
              <a:rPr lang="en-US" sz="1600" dirty="0"/>
            </a:br>
            <a:r>
              <a:rPr lang="en-US" sz="1600" dirty="0"/>
              <a:t> “Turn on the fan.”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br>
              <a:rPr lang="en-US" sz="1600" dirty="0"/>
            </a:br>
            <a:r>
              <a:rPr lang="en-US" sz="1600" dirty="0"/>
              <a:t> “Switch off the heater.”</a:t>
            </a:r>
          </a:p>
          <a:p>
            <a:endParaRPr lang="en-US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9370ED-B258-1C76-BA89-AC8D604A41EA}"/>
              </a:ext>
            </a:extLst>
          </p:cNvPr>
          <p:cNvSpPr/>
          <p:nvPr/>
        </p:nvSpPr>
        <p:spPr>
          <a:xfrm>
            <a:off x="7840073" y="2594428"/>
            <a:ext cx="3541925" cy="3637936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FF00"/>
                </a:solidFill>
                <a:latin typeface="Aptos Slab SemiBold" panose="020B0004020202020204" pitchFamily="34" charset="0"/>
              </a:rPr>
              <a:t>Intelligent Features</a:t>
            </a:r>
          </a:p>
          <a:p>
            <a:endParaRPr lang="en-US" sz="1600" b="1" dirty="0">
              <a:solidFill>
                <a:srgbClr val="FFFF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Real-time voice interaction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AI-based temperature suggestions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Hands-free smart home control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Personalized comfort settings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Multi-device automatic synchronization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Voice alerts for abnormal temperature conditions</a:t>
            </a:r>
          </a:p>
        </p:txBody>
      </p:sp>
    </p:spTree>
    <p:extLst>
      <p:ext uri="{BB962C8B-B14F-4D97-AF65-F5344CB8AC3E}">
        <p14:creationId xmlns:p14="http://schemas.microsoft.com/office/powerpoint/2010/main" val="1173936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D95A7C6-B3F8-6D72-B60E-C5EA0A7D6A56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356953" y="159217"/>
            <a:ext cx="8174456" cy="6539565"/>
          </a:xfrm>
          <a:prstGeom prst="rect">
            <a:avLst/>
          </a:prstGeom>
          <a:noFill/>
          <a:effectLst/>
        </p:spPr>
      </p:pic>
    </p:spTree>
    <p:extLst>
      <p:ext uri="{BB962C8B-B14F-4D97-AF65-F5344CB8AC3E}">
        <p14:creationId xmlns:p14="http://schemas.microsoft.com/office/powerpoint/2010/main" val="3117802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ECDD0-17F6-3312-AE6D-F7EB95E4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491720"/>
            <a:ext cx="3990110" cy="1543558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Portable Solar-Powered Smart Control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36AA5-9DDA-DA9A-5469-6885A5A84D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20651" y="712840"/>
            <a:ext cx="6215942" cy="5220821"/>
          </a:xfrm>
        </p:spPr>
        <p:txBody>
          <a:bodyPr/>
          <a:lstStyle/>
          <a:p>
            <a:pPr algn="just"/>
            <a:r>
              <a:rPr lang="en-US" dirty="0">
                <a:latin typeface="Aptos Slab SemiBold" panose="020B0004020202020204" pitchFamily="34" charset="0"/>
              </a:rPr>
              <a:t>Our futuristic smart temperature control system is designed with a powerful </a:t>
            </a:r>
            <a:r>
              <a:rPr lang="en-US" b="1" dirty="0">
                <a:latin typeface="Aptos Slab SemiBold" panose="020B0004020202020204" pitchFamily="34" charset="0"/>
              </a:rPr>
              <a:t>built-in battery and solar panel integration</a:t>
            </a:r>
            <a:r>
              <a:rPr lang="en-US" dirty="0">
                <a:latin typeface="Aptos Slab SemiBold" panose="020B0004020202020204" pitchFamily="34" charset="0"/>
              </a:rPr>
              <a:t>.</a:t>
            </a:r>
          </a:p>
          <a:p>
            <a:pPr algn="just"/>
            <a:br>
              <a:rPr lang="en-US" dirty="0">
                <a:latin typeface="Aptos Slab SemiBold" panose="020B0004020202020204" pitchFamily="34" charset="0"/>
              </a:rPr>
            </a:br>
            <a:r>
              <a:rPr lang="en-US" dirty="0">
                <a:latin typeface="Aptos Slab SemiBold" panose="020B0004020202020204" pitchFamily="34" charset="0"/>
              </a:rPr>
              <a:t>Because of this advanced energy system, the device does not require continuous charging or external power connections.</a:t>
            </a:r>
          </a:p>
          <a:p>
            <a:pPr algn="just"/>
            <a:endParaRPr lang="en-US" dirty="0">
              <a:latin typeface="Aptos Slab SemiBold" panose="020B0004020202020204" pitchFamily="34" charset="0"/>
            </a:endParaRPr>
          </a:p>
          <a:p>
            <a:pPr algn="just"/>
            <a:r>
              <a:rPr lang="en-US" dirty="0">
                <a:latin typeface="Aptos Slab SemiBold" panose="020B0004020202020204" pitchFamily="34" charset="0"/>
              </a:rPr>
              <a:t>Users can simply carry the device and temporarily place it inside any building, room, office, or hall.</a:t>
            </a:r>
          </a:p>
          <a:p>
            <a:pPr algn="just"/>
            <a:br>
              <a:rPr lang="en-US" dirty="0">
                <a:latin typeface="Aptos Slab SemiBold" panose="020B0004020202020204" pitchFamily="34" charset="0"/>
              </a:rPr>
            </a:br>
            <a:r>
              <a:rPr lang="en-US" dirty="0">
                <a:latin typeface="Aptos Slab SemiBold" panose="020B0004020202020204" pitchFamily="34" charset="0"/>
              </a:rPr>
              <a:t>Once installed, the system automatically connects with all nearby smart devices such as: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E9CD47-53C2-F7BE-E674-B421CECBFBA7}"/>
              </a:ext>
            </a:extLst>
          </p:cNvPr>
          <p:cNvSpPr/>
          <p:nvPr/>
        </p:nvSpPr>
        <p:spPr>
          <a:xfrm>
            <a:off x="573370" y="2084440"/>
            <a:ext cx="3880641" cy="168131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FFFF00"/>
                </a:solidFill>
                <a:latin typeface="Amasis MT Pro Medium" panose="02040604050005020304" pitchFamily="18" charset="0"/>
              </a:rPr>
              <a:t>The device includes:</a:t>
            </a:r>
          </a:p>
          <a:p>
            <a:endParaRPr lang="en-US" sz="1600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Amasis MT Pro Medium" panose="02040604050005020304" pitchFamily="18" charset="0"/>
              </a:rPr>
              <a:t>☀️ High-efficiency solar panels</a:t>
            </a:r>
            <a:br>
              <a:rPr lang="en-US" sz="1600" dirty="0">
                <a:solidFill>
                  <a:schemeClr val="tx1"/>
                </a:solidFill>
                <a:latin typeface="Amasis MT Pro Medium" panose="02040604050005020304" pitchFamily="18" charset="0"/>
              </a:rPr>
            </a:br>
            <a:r>
              <a:rPr lang="en-US" sz="1600" dirty="0">
                <a:solidFill>
                  <a:schemeClr val="tx1"/>
                </a:solidFill>
                <a:latin typeface="Amasis MT Pro Medium" panose="02040604050005020304" pitchFamily="18" charset="0"/>
              </a:rPr>
              <a:t>🔋 Long-lasting rechargeable   battery</a:t>
            </a:r>
            <a:br>
              <a:rPr lang="en-US" sz="1600" dirty="0">
                <a:solidFill>
                  <a:schemeClr val="tx1"/>
                </a:solidFill>
                <a:latin typeface="Amasis MT Pro Medium" panose="02040604050005020304" pitchFamily="18" charset="0"/>
              </a:rPr>
            </a:br>
            <a:r>
              <a:rPr lang="en-US" sz="1600" dirty="0">
                <a:solidFill>
                  <a:schemeClr val="tx1"/>
                </a:solidFill>
                <a:latin typeface="Amasis MT Pro Medium" panose="02040604050005020304" pitchFamily="18" charset="0"/>
              </a:rPr>
              <a:t>⚡ Automatic solar charging system</a:t>
            </a:r>
            <a:br>
              <a:rPr lang="en-US" sz="1600" dirty="0">
                <a:solidFill>
                  <a:schemeClr val="tx1"/>
                </a:solidFill>
                <a:latin typeface="Amasis MT Pro Medium" panose="02040604050005020304" pitchFamily="18" charset="0"/>
              </a:rPr>
            </a:br>
            <a:r>
              <a:rPr lang="en-US" sz="1600" dirty="0">
                <a:solidFill>
                  <a:schemeClr val="tx1"/>
                </a:solidFill>
                <a:latin typeface="Amasis MT Pro Medium" panose="02040604050005020304" pitchFamily="18" charset="0"/>
              </a:rPr>
              <a:t>🌱 Eco-friendly energy management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585432-B31C-B66F-2BE2-96752A79CAA9}"/>
              </a:ext>
            </a:extLst>
          </p:cNvPr>
          <p:cNvSpPr/>
          <p:nvPr/>
        </p:nvSpPr>
        <p:spPr>
          <a:xfrm>
            <a:off x="540885" y="3814917"/>
            <a:ext cx="3880641" cy="253169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00"/>
                </a:solidFill>
              </a:rPr>
              <a:t>Smart Portable Features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Aptos Serif" panose="02020604070405020304" pitchFamily="18" charset="0"/>
                <a:cs typeface="Aptos Serif" panose="02020604070405020304" pitchFamily="18" charset="0"/>
              </a:rPr>
              <a:t>No manual charging required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Aptos Serif" panose="02020604070405020304" pitchFamily="18" charset="0"/>
                <a:cs typeface="Aptos Serif" panose="02020604070405020304" pitchFamily="18" charset="0"/>
              </a:rPr>
              <a:t>Easy to carry and install anywhere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Aptos Serif" panose="02020604070405020304" pitchFamily="18" charset="0"/>
                <a:cs typeface="Aptos Serif" panose="02020604070405020304" pitchFamily="18" charset="0"/>
              </a:rPr>
              <a:t>Temporary or permanent deployment support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Aptos Serif" panose="02020604070405020304" pitchFamily="18" charset="0"/>
                <a:cs typeface="Aptos Serif" panose="02020604070405020304" pitchFamily="18" charset="0"/>
              </a:rPr>
              <a:t>Wireless device synchronization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Aptos Serif" panose="02020604070405020304" pitchFamily="18" charset="0"/>
                <a:cs typeface="Aptos Serif" panose="02020604070405020304" pitchFamily="18" charset="0"/>
              </a:rPr>
              <a:t>Energy-efficient smart automation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Aptos Serif" panose="02020604070405020304" pitchFamily="18" charset="0"/>
                <a:cs typeface="Aptos Serif" panose="02020604070405020304" pitchFamily="18" charset="0"/>
              </a:rPr>
              <a:t>Continuous operation during power failures</a:t>
            </a:r>
          </a:p>
        </p:txBody>
      </p:sp>
    </p:spTree>
    <p:extLst>
      <p:ext uri="{BB962C8B-B14F-4D97-AF65-F5344CB8AC3E}">
        <p14:creationId xmlns:p14="http://schemas.microsoft.com/office/powerpoint/2010/main" val="959076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4EAA1-A0F9-D469-2BDC-3AB8380D67EC}"/>
              </a:ext>
            </a:extLst>
          </p:cNvPr>
          <p:cNvSpPr txBox="1">
            <a:spLocks/>
          </p:cNvSpPr>
          <p:nvPr/>
        </p:nvSpPr>
        <p:spPr>
          <a:xfrm>
            <a:off x="529935" y="633845"/>
            <a:ext cx="3990110" cy="2192482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600" b="1" kern="1200" spc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spcAft>
                <a:spcPts val="600"/>
              </a:spcAft>
            </a:pPr>
            <a:r>
              <a:rPr lang="en-US" sz="4400" b="1" kern="1200" spc="0" baseline="0" dirty="0">
                <a:ln>
                  <a:noFill/>
                </a:ln>
                <a:solidFill>
                  <a:srgbClr val="C00000"/>
                </a:solidFill>
                <a:effectLst/>
                <a:latin typeface="Baskerville Old Face" panose="02020602080505020303" pitchFamily="18" charset="0"/>
              </a:rPr>
              <a:t>Portable Solar-Powered Smart Control </a:t>
            </a:r>
          </a:p>
        </p:txBody>
      </p:sp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1D018599-F149-540E-ED58-BB69DD853694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/>
          <a:stretch>
            <a:fillRect/>
          </a:stretch>
        </p:blipFill>
        <p:spPr>
          <a:xfrm>
            <a:off x="529935" y="3292777"/>
            <a:ext cx="3908504" cy="2931378"/>
          </a:xfrm>
          <a:prstGeom prst="rect">
            <a:avLst/>
          </a:prstGeom>
          <a:effectLst/>
        </p:spPr>
      </p:pic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58B18AF5-1DFE-8D52-07FE-7B03654A3A7B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4"/>
          <a:srcRect l="6620" r="6623" b="3"/>
          <a:stretch>
            <a:fillRect/>
          </a:stretch>
        </p:blipFill>
        <p:spPr>
          <a:xfrm>
            <a:off x="5034117" y="670920"/>
            <a:ext cx="6381113" cy="5516160"/>
          </a:xfrm>
          <a:prstGeom prst="rect">
            <a:avLst/>
          </a:prstGeom>
          <a:noFill/>
          <a:effectLst/>
        </p:spPr>
      </p:pic>
    </p:spTree>
    <p:extLst>
      <p:ext uri="{BB962C8B-B14F-4D97-AF65-F5344CB8AC3E}">
        <p14:creationId xmlns:p14="http://schemas.microsoft.com/office/powerpoint/2010/main" val="3937483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97DFA-9278-9CB6-C5BC-520AB107B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343" y="-1324334"/>
            <a:ext cx="10571998" cy="2983528"/>
          </a:xfrm>
        </p:spPr>
        <p:txBody>
          <a:bodyPr/>
          <a:lstStyle/>
          <a:p>
            <a:pPr lvl="0"/>
            <a:r>
              <a:rPr lang="en-US" sz="5400" noProof="0" dirty="0">
                <a:solidFill>
                  <a:srgbClr val="FFFF00"/>
                </a:solidFill>
                <a:latin typeface="Amasis MT Pro Medium" panose="02040604050005020304" pitchFamily="18" charset="0"/>
              </a:rPr>
              <a:t>REAL TIME FAULT DETECTION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75145E-B2F4-606B-6B55-B83F26301A4B}"/>
              </a:ext>
            </a:extLst>
          </p:cNvPr>
          <p:cNvSpPr/>
          <p:nvPr/>
        </p:nvSpPr>
        <p:spPr>
          <a:xfrm>
            <a:off x="1380271" y="1877962"/>
            <a:ext cx="4322437" cy="4375355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AI-Based Smart Suggestions</a:t>
            </a:r>
          </a:p>
          <a:p>
            <a:pPr algn="ctr"/>
            <a:endParaRPr lang="en-US" sz="2400" b="1" dirty="0">
              <a:solidFill>
                <a:srgbClr val="002060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  <a:p>
            <a:pPr algn="ctr"/>
            <a:r>
              <a:rPr lang="en-US" b="1" dirty="0">
                <a:solidFill>
                  <a:srgbClr val="002060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The system can also provide intelligent recommendations such as:</a:t>
            </a:r>
          </a:p>
          <a:p>
            <a:endParaRPr lang="en-US" dirty="0">
              <a:solidFill>
                <a:schemeClr val="bg1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Check Heater Connection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Power Supply Failure Detected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Reconnect Wi-Fi Device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Replace Faulty Component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E67FEC-7EF6-B1E5-33C9-C27D15913CBD}"/>
              </a:ext>
            </a:extLst>
          </p:cNvPr>
          <p:cNvSpPr/>
          <p:nvPr/>
        </p:nvSpPr>
        <p:spPr>
          <a:xfrm>
            <a:off x="6489294" y="1877962"/>
            <a:ext cx="4213119" cy="4375355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Aptos Slab SemiBold" panose="020B0004020202020204" pitchFamily="34" charset="0"/>
                <a:cs typeface="Aptos Serif" panose="02020604070405020304" pitchFamily="18" charset="0"/>
              </a:rPr>
              <a:t>Smart Fault Analysis</a:t>
            </a:r>
          </a:p>
          <a:p>
            <a:pPr algn="ctr"/>
            <a:endParaRPr lang="en-US" sz="2800" dirty="0">
              <a:solidFill>
                <a:srgbClr val="C00000"/>
              </a:solidFill>
              <a:latin typeface="Aptos Slab SemiBold" panose="020B0004020202020204" pitchFamily="34" charset="0"/>
              <a:cs typeface="Aptos Serif" panose="02020604070405020304" pitchFamily="18" charset="0"/>
            </a:endParaRPr>
          </a:p>
          <a:p>
            <a:pPr algn="ctr"/>
            <a:r>
              <a:rPr lang="en-US" sz="2000" dirty="0">
                <a:solidFill>
                  <a:srgbClr val="002060"/>
                </a:solidFill>
                <a:latin typeface="Aptos Slab ExtraBold" panose="020B0004020202020204" pitchFamily="34" charset="0"/>
                <a:cs typeface="Aptos Serif" panose="02020604070405020304" pitchFamily="18" charset="0"/>
              </a:rPr>
              <a:t>The system can identify:</a:t>
            </a:r>
          </a:p>
          <a:p>
            <a:pPr algn="ctr"/>
            <a:endParaRPr lang="en-US" sz="2000" dirty="0">
              <a:solidFill>
                <a:srgbClr val="002060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Which device failed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Exact location of the device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Type of issue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Time of failure</a:t>
            </a:r>
          </a:p>
        </p:txBody>
      </p:sp>
    </p:spTree>
    <p:extLst>
      <p:ext uri="{BB962C8B-B14F-4D97-AF65-F5344CB8AC3E}">
        <p14:creationId xmlns:p14="http://schemas.microsoft.com/office/powerpoint/2010/main" val="1722147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D812208F-C871-81DD-C784-140E31E54479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1171536" y="96363"/>
            <a:ext cx="9997909" cy="666527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014413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05011-03FC-652B-2538-4EAE68ABF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60" y="1017858"/>
            <a:ext cx="10650681" cy="2719255"/>
          </a:xfrm>
        </p:spPr>
        <p:txBody>
          <a:bodyPr/>
          <a:lstStyle/>
          <a:p>
            <a:pPr lvl="0"/>
            <a:r>
              <a:rPr lang="en-US" sz="9600" dirty="0">
                <a:solidFill>
                  <a:srgbClr val="FFC000"/>
                </a:solidFill>
                <a:latin typeface="Aptos Slab ExtraBold" panose="020B0004020202020204" pitchFamily="34" charset="0"/>
              </a:rPr>
              <a:t>Thank You</a:t>
            </a:r>
            <a:endParaRPr lang="en-US" sz="9600" noProof="0" dirty="0">
              <a:solidFill>
                <a:srgbClr val="FFC000"/>
              </a:solidFill>
              <a:latin typeface="Aptos Slab ExtraBold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A2349-EF0B-F33D-13F9-8262414616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14789" y="5584722"/>
            <a:ext cx="10650681" cy="665696"/>
          </a:xfrm>
        </p:spPr>
        <p:txBody>
          <a:bodyPr>
            <a:normAutofit/>
          </a:bodyPr>
          <a:lstStyle/>
          <a:p>
            <a:pPr lvl="0"/>
            <a:r>
              <a:rPr lang="en-US" sz="2400" noProof="0" dirty="0">
                <a:latin typeface="Aptos Slab SemiBold" panose="020B0004020202020204" pitchFamily="34" charset="0"/>
              </a:rPr>
              <a:t>INNOVATE X5</a:t>
            </a:r>
          </a:p>
        </p:txBody>
      </p:sp>
    </p:spTree>
    <p:extLst>
      <p:ext uri="{BB962C8B-B14F-4D97-AF65-F5344CB8AC3E}">
        <p14:creationId xmlns:p14="http://schemas.microsoft.com/office/powerpoint/2010/main" val="36636579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381587_Win32_SL_v6" id="{5005B820-A0B7-49EA-8569-DCF0CD2DBB9D}" vid="{2E48C80D-E25D-44C4-BCFD-F1465E9B61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29F0C84-2C14-4FB8-88C2-9577181F2CC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72B3831-C4F2-498C-8E5F-F8D6F90548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4ACCF44-01D5-4C40-9EAC-D3C3683409F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{1BC88B12-1F55-4C8F-9120-029940B117B4}TF4e23ad37-c1a6-42e6-a6ec-6518d97eca9ec3cad5d6_win32-e4fb00466b0d</Template>
  <TotalTime>96</TotalTime>
  <Words>389</Words>
  <Application>Microsoft Office PowerPoint</Application>
  <PresentationFormat>Widescreen</PresentationFormat>
  <Paragraphs>83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2" baseType="lpstr">
      <vt:lpstr>Amasis MT Pro Medium</vt:lpstr>
      <vt:lpstr>Aptos</vt:lpstr>
      <vt:lpstr>Aptos ExtraBold</vt:lpstr>
      <vt:lpstr>Aptos Serif</vt:lpstr>
      <vt:lpstr>Aptos Slab ExtraBold</vt:lpstr>
      <vt:lpstr>Aptos Slab SemiBold</vt:lpstr>
      <vt:lpstr>Arial</vt:lpstr>
      <vt:lpstr>Baskerville Old Face</vt:lpstr>
      <vt:lpstr>Calibri</vt:lpstr>
      <vt:lpstr>Century Gothic</vt:lpstr>
      <vt:lpstr>Wingdings</vt:lpstr>
      <vt:lpstr>Wingdings 2</vt:lpstr>
      <vt:lpstr>Quotable</vt:lpstr>
      <vt:lpstr>PowerPoint Presentation</vt:lpstr>
      <vt:lpstr>Additional Advanced Features:</vt:lpstr>
      <vt:lpstr>Voice Assistant Integration</vt:lpstr>
      <vt:lpstr>PowerPoint Presentation</vt:lpstr>
      <vt:lpstr>Portable Solar-Powered Smart Control </vt:lpstr>
      <vt:lpstr>PowerPoint Presentation</vt:lpstr>
      <vt:lpstr>REAL TIME FAULT DETECTION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Priyangan Vasantharajan</dc:creator>
  <cp:lastModifiedBy>Priyangan Vasantharajan</cp:lastModifiedBy>
  <cp:revision>2</cp:revision>
  <dcterms:created xsi:type="dcterms:W3CDTF">2026-05-21T03:18:57Z</dcterms:created>
  <dcterms:modified xsi:type="dcterms:W3CDTF">2026-05-21T04:55:42Z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